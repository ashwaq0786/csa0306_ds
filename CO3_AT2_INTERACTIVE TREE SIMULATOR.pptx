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47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58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20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5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334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34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01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57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00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0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01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23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09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8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954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32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4608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837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04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6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17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567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13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9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48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96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8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15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89" r:id="rId26"/>
    <p:sldLayoutId id="2147483790" r:id="rId27"/>
    <p:sldLayoutId id="2147483791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C3BA59-17DD-3628-CAE7-29B9F82DB904}"/>
              </a:ext>
            </a:extLst>
          </p:cNvPr>
          <p:cNvSpPr txBox="1"/>
          <p:nvPr/>
        </p:nvSpPr>
        <p:spPr>
          <a:xfrm>
            <a:off x="1524000" y="1920895"/>
            <a:ext cx="91440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/>
              </a:rPr>
              <a:t>CO3 – AT2</a:t>
            </a:r>
          </a:p>
          <a:p>
            <a:pPr algn="ctr"/>
            <a:endParaRPr lang="en-IN" sz="2800" b="1" dirty="0">
              <a:latin typeface="Times New Roman"/>
            </a:endParaRPr>
          </a:p>
          <a:p>
            <a:pPr algn="ctr"/>
            <a:r>
              <a:rPr lang="en-IN" sz="4000" b="1" dirty="0">
                <a:latin typeface="Times New Roman"/>
              </a:rPr>
              <a:t>INTERACTIVE TREE SIMULATOR</a:t>
            </a:r>
          </a:p>
          <a:p>
            <a:pPr algn="ctr"/>
            <a:endParaRPr lang="en-IN" sz="4000" b="1" dirty="0">
              <a:latin typeface="Times New Roman"/>
            </a:endParaRPr>
          </a:p>
          <a:p>
            <a:pPr algn="ctr"/>
            <a:r>
              <a:rPr lang="en-US" dirty="0">
                <a:latin typeface="Times New Roman"/>
              </a:rPr>
              <a:t>Binary Search Tree – Simulation and Operations</a:t>
            </a:r>
          </a:p>
          <a:p>
            <a:pPr algn="ctr"/>
            <a:endParaRPr lang="en-IN" dirty="0">
              <a:latin typeface="Times New Roman"/>
            </a:endParaRPr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83A8C-405E-5367-A783-1BA545B4D7FE}"/>
              </a:ext>
            </a:extLst>
          </p:cNvPr>
          <p:cNvSpPr txBox="1"/>
          <p:nvPr/>
        </p:nvSpPr>
        <p:spPr>
          <a:xfrm>
            <a:off x="9015984" y="5540609"/>
            <a:ext cx="2926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Done By :</a:t>
            </a:r>
          </a:p>
          <a:p>
            <a:r>
              <a:rPr lang="en-IN" sz="2400" b="1" dirty="0"/>
              <a:t>Sk. Ashwaq Ahamed</a:t>
            </a:r>
          </a:p>
        </p:txBody>
      </p:sp>
    </p:spTree>
    <p:extLst>
      <p:ext uri="{BB962C8B-B14F-4D97-AF65-F5344CB8AC3E}">
        <p14:creationId xmlns:p14="http://schemas.microsoft.com/office/powerpoint/2010/main" val="275679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4945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An interactive tree simulator is a visual tool used to understand tree data structures.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It allows users to create nodes and observe operations step by step.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For this demonstration, a Binary Search Tree (BST) is used.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BST rule: values smaller than a node are placed on the left; larger values are placed on the right.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simulator makes insertion, searching, deletion and traversal easier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2. Tool Selected – VisuAlgo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Interactive data-structure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Tool: VisuAlgo – Binary Search Tree visualization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Purpose: visually demonstrate how tree operations change the structure.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Main operations used: Create/Insert, Search, Delete and Traversal.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visual animation helps verify the path followed by each operation.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For the actual submission, add a screenshot of the simulator interface on this slide.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BBEF9A-60B2-728F-05E9-23410D68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12" y="4043009"/>
            <a:ext cx="9914479" cy="1882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3. Create the Binary Search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Insert the values in this order: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50 → 30 → 70 → 20 → 40 → 60 → 80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After each insertion, observe the position of the new node.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final tree is balanced for this example and contains seven nodes.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5596128" y="3858768"/>
            <a:ext cx="1005840" cy="1234439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601968" y="3858768"/>
            <a:ext cx="1005840" cy="1234439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047488" y="5093207"/>
            <a:ext cx="548640" cy="12344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96128" y="5093207"/>
            <a:ext cx="548640" cy="12344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059168" y="5093207"/>
            <a:ext cx="548640" cy="12344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07808" y="5093207"/>
            <a:ext cx="548640" cy="1234441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400800" y="36576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1" name="Oval 10"/>
          <p:cNvSpPr/>
          <p:nvPr/>
        </p:nvSpPr>
        <p:spPr>
          <a:xfrm>
            <a:off x="5394960" y="489204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489204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612648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612648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612648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6" name="Oval 15"/>
          <p:cNvSpPr/>
          <p:nvPr/>
        </p:nvSpPr>
        <p:spPr>
          <a:xfrm>
            <a:off x="7955279" y="612648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4. Insertion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Example: insert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Start at the root node 50.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65 &gt; 50, so move to the right subtree.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65 &lt; 70, so move to the left subtree.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65 &gt; 60, so insert 65 as the right child of 60.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simulator shows this path visually.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7424928" y="18470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30768" y="18470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7628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2492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8796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3660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0" y="164592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8803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8803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4114800"/>
            <a:ext cx="411480" cy="411480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8" name="Oval 17"/>
          <p:cNvSpPr/>
          <p:nvPr/>
        </p:nvSpPr>
        <p:spPr>
          <a:xfrm>
            <a:off x="7978140" y="3568446"/>
            <a:ext cx="411480" cy="411480"/>
          </a:xfrm>
          <a:prstGeom prst="ellipse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12380" y="3186684"/>
            <a:ext cx="411480" cy="4572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5. Search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Example: search for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Begin at 50: 60 is greater, so move right.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At 70: 60 is smaller, so move left.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At 60: the required value is found.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simulator highlights the nodes visited during the search.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This demonstrates how BST ordering reduces unnecessary comparisons.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7424928" y="18470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30768" y="18470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7628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2492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8796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3660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0" y="164592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8803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8803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4114800"/>
            <a:ext cx="411480" cy="411480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6. Delete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Example: delete node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Node 20 is a leaf node because it has no children.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Select/delete node 20 in the simulator.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node is removed directly without replacing another node.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Observe the updated tree after deletion.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Deletion can also be demonstrated for a node with one child or two children.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7424928" y="18470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30768" y="18470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87628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2492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8796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36608" y="30815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0" y="164592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8803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8803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0" y="41148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7. Tree Traversal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5504688" y="16184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10528" y="1618488"/>
            <a:ext cx="10058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4956048" y="28529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04688" y="28529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967728" y="28529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16368" y="2852928"/>
            <a:ext cx="548640" cy="12344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309360" y="141732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50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6517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30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265176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70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3886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20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3886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40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3886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60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886200"/>
            <a:ext cx="411480" cy="411480"/>
          </a:xfrm>
          <a:prstGeom prst="ellipse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Times New Roman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Inorder: 20 → 30 → 40 → 50 → 60 → 70 → 80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Preorder: 50 → 30 → 20 → 40 → 70 → 60 → 80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Postorder: 20 → 40 → 30 → 60 → 80 → 70 → 50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Level-order: 50 → 30 → 70 → 20 → 40 → 60 → 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8.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simulator gives a clear visual representation of every tree change.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BST insertion follows a comparison-based path from the root.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Searching is efficient when the tree remains reasonably balanced.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Deletion changes the structure while preserving the BST property.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Traversal tools help verify the order of nodes.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Interactive visualization is useful for learning data structures.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9. Advantages of an Interactive Tree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Easy to understand complex tree operations visually.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Provides immediate feedback after each operation.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Helps students identify parent-child relationships.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Useful for practicing insertion, search, deletion and traversal.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Reduces errors when manually drawing trees.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Supports learning through experimentation.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>
                <a:latin typeface="Times New Roman"/>
              </a:rP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interactive tree simulator provides a simple way to explore Binary Search Trees.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Insertion, searching, deletion and traversal can be observed step by step.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simulation improves understanding of tree structure and BST rules.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It is an effective learning aid for data-structure concepts.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>
                <a:latin typeface="Times New Roman"/>
              </a:rPr>
              <a:t>The screenshots taken during the live demonstration can be included as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5226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>
                <a:latin typeface="Times New Roman"/>
              </a:rPr>
              <a:t>11.</a:t>
            </a:r>
            <a:r>
              <a:rPr lang="en-IN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Add 3–4 screenshots from the simulator: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1. Initial BST after inserting 50, 30, 70, 20, 40, 60, 80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 dirty="0">
                <a:latin typeface="Times New Roman"/>
              </a:rPr>
              <a:t>2. Search operation for 60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rPr lang="en-IN" dirty="0">
                <a:latin typeface="Times New Roman"/>
              </a:rPr>
              <a:t>3</a:t>
            </a:r>
            <a:r>
              <a:rPr dirty="0">
                <a:latin typeface="Times New Roman"/>
              </a:rPr>
              <a:t>. Delete operation for 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9189D9-14A2-CB6F-7150-9346ADC64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288682"/>
            <a:ext cx="6096000" cy="3374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24BA83-73AD-0603-81F3-74DB7007B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66" y="3275437"/>
            <a:ext cx="5949933" cy="3400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/>
              </a:rPr>
              <a:t>13. Binary Search Tree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A Binary Search Tree is a hierarchical data structure in which every node can have at most two children.</a:t>
            </a:r>
          </a:p>
          <a:p>
            <a:pPr>
              <a:defRPr sz="2000"/>
            </a:pPr>
            <a:r>
              <a:rPr>
                <a:latin typeface="Times New Roman"/>
              </a:rPr>
              <a:t>For each node, values smaller than the node are stored in the left subtree.</a:t>
            </a:r>
          </a:p>
          <a:p>
            <a:pPr>
              <a:defRPr sz="2000"/>
            </a:pPr>
            <a:r>
              <a:rPr>
                <a:latin typeface="Times New Roman"/>
              </a:rPr>
              <a:t>Values larger than the node are stored in the right subtree.</a:t>
            </a:r>
          </a:p>
          <a:p>
            <a:pPr>
              <a:defRPr sz="2000"/>
            </a:pPr>
            <a:r>
              <a:rPr>
                <a:latin typeface="Times New Roman"/>
              </a:rPr>
              <a:t>The same BST property is maintained after insertion and deletion.</a:t>
            </a:r>
          </a:p>
          <a:p>
            <a:pPr>
              <a:defRPr sz="2000"/>
            </a:pPr>
            <a:r>
              <a:rPr>
                <a:latin typeface="Times New Roman"/>
              </a:rPr>
              <a:t>The root node is the starting point for most BST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/>
              </a:rPr>
              <a:t>14. Step-by-Step Working of the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The simulator begins with an empty tree or an existing set of nodes.</a:t>
            </a:r>
          </a:p>
          <a:p>
            <a:pPr>
              <a:defRPr sz="2000"/>
            </a:pPr>
            <a:r>
              <a:rPr>
                <a:latin typeface="Times New Roman"/>
              </a:rPr>
              <a:t>When a value is inserted, it is compared with the current node.</a:t>
            </a:r>
          </a:p>
          <a:p>
            <a:pPr>
              <a:defRPr sz="2000"/>
            </a:pPr>
            <a:r>
              <a:rPr>
                <a:latin typeface="Times New Roman"/>
              </a:rPr>
              <a:t>The comparison determines whether the operation moves left or right.</a:t>
            </a:r>
          </a:p>
          <a:p>
            <a:pPr>
              <a:defRPr sz="2000"/>
            </a:pPr>
            <a:r>
              <a:rPr>
                <a:latin typeface="Times New Roman"/>
              </a:rPr>
              <a:t>The process continues until the correct position is reached.</a:t>
            </a:r>
          </a:p>
          <a:p>
            <a:pPr>
              <a:defRPr sz="2000"/>
            </a:pPr>
            <a:r>
              <a:rPr>
                <a:latin typeface="Times New Roman"/>
              </a:rPr>
              <a:t>For search and deletion, the simulator visually shows the path followed through the tree.</a:t>
            </a:r>
          </a:p>
          <a:p>
            <a:pPr>
              <a:defRPr sz="2000"/>
            </a:pPr>
            <a:r>
              <a:rPr>
                <a:latin typeface="Times New Roman"/>
              </a:rPr>
              <a:t>This step-by-step process makes the algorithm easier to observe.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/>
              </a:rPr>
              <a:t>15. Time Complexity of BST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Insertion: O(log n) on a reasonably balanced BST.</a:t>
            </a:r>
          </a:p>
          <a:p>
            <a:pPr>
              <a:defRPr sz="2000"/>
            </a:pPr>
            <a:r>
              <a:rPr>
                <a:latin typeface="Times New Roman"/>
              </a:rPr>
              <a:t>Search: O(log n) on a reasonably balanced BST.</a:t>
            </a:r>
          </a:p>
          <a:p>
            <a:pPr>
              <a:defRPr sz="2000"/>
            </a:pPr>
            <a:r>
              <a:rPr>
                <a:latin typeface="Times New Roman"/>
              </a:rPr>
              <a:t>Deletion: O(log n) on a reasonably balanced BST.</a:t>
            </a:r>
          </a:p>
          <a:p>
            <a:pPr>
              <a:defRPr sz="2000"/>
            </a:pPr>
            <a:r>
              <a:rPr>
                <a:latin typeface="Times New Roman"/>
              </a:rPr>
              <a:t>In the worst case, when the tree becomes highly unbalanced, these operations can take O(n).</a:t>
            </a:r>
          </a:p>
          <a:p>
            <a:pPr>
              <a:defRPr sz="2000"/>
            </a:pPr>
            <a:r>
              <a:rPr>
                <a:latin typeface="Times New Roman"/>
              </a:rPr>
              <a:t>Traversal visits every node, so traversal takes O(n).</a:t>
            </a:r>
          </a:p>
          <a:p>
            <a:pPr>
              <a:defRPr sz="2000"/>
            </a:pPr>
            <a:r>
              <a:rPr>
                <a:latin typeface="Times New Roman"/>
              </a:rPr>
              <a:t>The simulator helps demonstrate why tree shape affects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/>
              </a:rPr>
              <a:t>16. Types of BST Deletion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Case 1 – Leaf node: a node with no children can be removed directly.</a:t>
            </a:r>
          </a:p>
          <a:p>
            <a:pPr>
              <a:defRPr sz="2000"/>
            </a:pPr>
            <a:r>
              <a:rPr>
                <a:latin typeface="Times New Roman"/>
              </a:rPr>
              <a:t>Case 2 – One child: the node is removed and its child takes its position.</a:t>
            </a:r>
          </a:p>
          <a:p>
            <a:pPr>
              <a:defRPr sz="2000"/>
            </a:pPr>
            <a:r>
              <a:rPr>
                <a:latin typeface="Times New Roman"/>
              </a:rPr>
              <a:t>Case 3 – Two children: the node is replaced using a suitable successor or predecessor while preserving BST order.</a:t>
            </a:r>
          </a:p>
          <a:p>
            <a:pPr>
              <a:defRPr sz="2000"/>
            </a:pPr>
            <a:r>
              <a:rPr>
                <a:latin typeface="Times New Roman"/>
              </a:rPr>
              <a:t>The simulator can be used to observe all three deletion situations.</a:t>
            </a:r>
          </a:p>
          <a:p>
            <a:pPr>
              <a:defRPr sz="2000"/>
            </a:pPr>
            <a:r>
              <a:rPr>
                <a:latin typeface="Times New Roman"/>
              </a:rPr>
              <a:t>These cases show how deletion can change the structure of a tree.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/>
              </a:rPr>
              <a:t>17. 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Binary Search Trees are useful for maintaining data in an ordered structure.</a:t>
            </a:r>
          </a:p>
          <a:p>
            <a:pPr>
              <a:defRPr sz="2000"/>
            </a:pPr>
            <a:r>
              <a:rPr>
                <a:latin typeface="Times New Roman"/>
              </a:rPr>
              <a:t>They can support searching, insertion and deletion operations.</a:t>
            </a:r>
          </a:p>
          <a:p>
            <a:pPr>
              <a:defRPr sz="2000"/>
            </a:pPr>
            <a:r>
              <a:rPr>
                <a:latin typeface="Times New Roman"/>
              </a:rPr>
              <a:t>BST concepts are useful in learning searching algorithms and hierarchical data organization.</a:t>
            </a:r>
          </a:p>
          <a:p>
            <a:pPr>
              <a:defRPr sz="2000"/>
            </a:pPr>
            <a:r>
              <a:rPr>
                <a:latin typeface="Times New Roman"/>
              </a:rPr>
              <a:t>Tree-based structures are also important as a foundation for more advanced structures such as balanced search trees.</a:t>
            </a:r>
          </a:p>
          <a:p>
            <a:pPr>
              <a:defRPr sz="2000"/>
            </a:pPr>
            <a:r>
              <a:rPr>
                <a:latin typeface="Times New Roman"/>
              </a:rPr>
              <a:t>Interactive visualization helps students connect the theoretical algorithm with its actual execution.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18.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Understand the basic structure and rules of a Binary Search Tree.</a:t>
            </a:r>
          </a:p>
          <a:p>
            <a:pPr>
              <a:defRPr sz="2000"/>
            </a:pPr>
            <a:r>
              <a:rPr>
                <a:latin typeface="Times New Roman"/>
              </a:rPr>
              <a:t>Perform insertion by following comparisons from the root.</a:t>
            </a:r>
          </a:p>
          <a:p>
            <a:pPr>
              <a:defRPr sz="2000"/>
            </a:pPr>
            <a:r>
              <a:rPr>
                <a:latin typeface="Times New Roman"/>
              </a:rPr>
              <a:t>Understand how search follows a path through the tree.</a:t>
            </a:r>
          </a:p>
          <a:p>
            <a:pPr>
              <a:defRPr sz="2000"/>
            </a:pPr>
            <a:r>
              <a:rPr>
                <a:latin typeface="Times New Roman"/>
              </a:rPr>
              <a:t>Identify the different cases involved in deletion.</a:t>
            </a:r>
          </a:p>
          <a:p>
            <a:pPr>
              <a:defRPr sz="2000"/>
            </a:pPr>
            <a:r>
              <a:rPr>
                <a:latin typeface="Times New Roman"/>
              </a:rPr>
              <a:t>Perform and verify tree traversals.</a:t>
            </a:r>
          </a:p>
          <a:p>
            <a:pPr>
              <a:defRPr sz="2000"/>
            </a:pPr>
            <a:r>
              <a:rPr>
                <a:latin typeface="Times New Roman"/>
              </a:rPr>
              <a:t>Observe how the shape of a tree can influence operation efficiency.</a:t>
            </a:r>
          </a:p>
          <a:p>
            <a:pPr>
              <a:defRPr sz="2000"/>
            </a:pPr>
            <a:r>
              <a:rPr>
                <a:latin typeface="Times New Roman"/>
              </a:rPr>
              <a:t>Use an interactive simulator as a practical learning tool.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/>
              </a:rPr>
              <a:t>19. Extended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latin typeface="Times New Roman"/>
              </a:rPr>
              <a:t>The selected example contains seven initial nodes arranged according to BST rules.</a:t>
            </a:r>
          </a:p>
          <a:p>
            <a:pPr>
              <a:defRPr sz="2000"/>
            </a:pPr>
            <a:r>
              <a:rPr>
                <a:latin typeface="Times New Roman"/>
              </a:rPr>
              <a:t>Adding 65 demonstrates insertion into an existing subtree.</a:t>
            </a:r>
          </a:p>
          <a:p>
            <a:pPr>
              <a:defRPr sz="2000"/>
            </a:pPr>
            <a:r>
              <a:rPr>
                <a:latin typeface="Times New Roman"/>
              </a:rPr>
              <a:t>Searching for 60 demonstrates how comparisons eliminate unnecessary branches.</a:t>
            </a:r>
          </a:p>
          <a:p>
            <a:pPr>
              <a:defRPr sz="2000"/>
            </a:pPr>
            <a:r>
              <a:rPr>
                <a:latin typeface="Times New Roman"/>
              </a:rPr>
              <a:t>Deleting 20 demonstrates the simplest deletion case because it is a leaf.</a:t>
            </a:r>
          </a:p>
          <a:p>
            <a:pPr>
              <a:defRPr sz="2000"/>
            </a:pPr>
            <a:r>
              <a:rPr>
                <a:latin typeface="Times New Roman"/>
              </a:rPr>
              <a:t>Traversal results provide another way to verify that the tree contains the expected values.</a:t>
            </a:r>
          </a:p>
          <a:p>
            <a:pPr>
              <a:defRPr sz="2000"/>
            </a:pPr>
            <a:r>
              <a:rPr>
                <a:latin typeface="Times New Roman"/>
              </a:rPr>
              <a:t>The visual simulator makes these changes easier to follow than a static diagram.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20</TotalTime>
  <Words>1277</Words>
  <Application>Microsoft Office PowerPoint</Application>
  <PresentationFormat>Widescreen</PresentationFormat>
  <Paragraphs>159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Felix Titling</vt:lpstr>
      <vt:lpstr>Goudy Old Style</vt:lpstr>
      <vt:lpstr>Times New Roman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13. Binary Search Tree Properties</vt:lpstr>
      <vt:lpstr>14. Step-by-Step Working of the Simulator</vt:lpstr>
      <vt:lpstr>15. Time Complexity of BST Operations</vt:lpstr>
      <vt:lpstr>16. Types of BST Deletion Cases</vt:lpstr>
      <vt:lpstr>17. Practical Applications</vt:lpstr>
      <vt:lpstr>18. Learning Outcomes</vt:lpstr>
      <vt:lpstr>19. Extended Observation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SK Ashwaq Ahamed</dc:creator>
  <cp:keywords/>
  <dc:description>generated using python-pptx</dc:description>
  <cp:lastModifiedBy>SK Ashwaq Ahamed</cp:lastModifiedBy>
  <cp:revision>3</cp:revision>
  <dcterms:created xsi:type="dcterms:W3CDTF">2013-01-27T09:14:16Z</dcterms:created>
  <dcterms:modified xsi:type="dcterms:W3CDTF">2026-08-09T16:35:12Z</dcterms:modified>
  <cp:category/>
</cp:coreProperties>
</file>